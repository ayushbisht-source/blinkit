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Thesis in one line: this is an ability problem, not a motivation problem. All three links are public.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Iceberg model from Class 1. The point: depth of intervention = leverage.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1. Emphasise: the gate is a design decision with a measured error rate, not a black box.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Validation. The NOT RUN rows are the credibility argument, not an apology.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2. n=5, real, async over text, anonymised P01–P05. The challenges are the value, not the confirmations.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3. Five whys behind the root cause; Fogg says ability is the binding constraint.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KPI tree: business outcome → product outcome → drivers → the single lever. The correction shows the tree being used, not decorated.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4. Not a feed, not a rail, not a browse tab — those were all ruled out by the survey.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system design: the model is confined to the one step where being wrong is cheap and visible.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falsifiability: the guardrails and the kill thresholds were written before any result existed.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hyperlink" Target="https://github.com/ayushbisht-source/Blinkit" TargetMode="External"/><Relationship Id="rId3" Type="http://schemas.openxmlformats.org/officeDocument/2006/relationships/hyperlink" Target="https://ayushbisht-source.github.io/Blinkit/deck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bisht-source/Blin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ayushbisht-source/Blinki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ayushbisht-source.github.io/Blinkit/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blinkit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640080" y="93268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EXPLORATION &amp; DISCOVERY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10607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 of 40 users have wanted to try a</a:t>
            </a:r>
            <a:endParaRPr lang="en-US" sz="40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category — and didn’t.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3611880"/>
            <a:ext cx="8778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 is not the constraint. The app shows an unfamiliar category exactly what it shows a familiar one — a price. For a category you already buy that is enough; you hold the reference point in your head. For one you have never bought, a price with no reference point is uninterpretable, so evaluating it costs time a two-minute fetch session has not budgeted.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210312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7" name="Text 5">
            <a:hlinkClick r:id="rId1" tooltip="Live MVP"/>
          </p:cNvPr>
          <p:cNvSpPr/>
          <p:nvPr/>
        </p:nvSpPr>
        <p:spPr>
          <a:xfrm>
            <a:off x="640080" y="525780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017520" y="525780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9" name="Text 7">
            <a:hlinkClick r:id="rId2" tooltip="Repository &amp; data"/>
          </p:cNvPr>
          <p:cNvSpPr/>
          <p:nvPr/>
        </p:nvSpPr>
        <p:spPr>
          <a:xfrm>
            <a:off x="3017520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Repository &amp; data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Repository &amp; data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943600" y="5257800"/>
            <a:ext cx="2651760" cy="502920"/>
          </a:xfrm>
          <a:prstGeom prst="roundRect">
            <a:avLst>
              <a:gd name="adj" fmla="val 18182"/>
            </a:avLst>
          </a:prstGeom>
          <a:solidFill>
            <a:srgbClr val="272C3A"/>
          </a:solidFill>
          <a:ln w="12700">
            <a:solidFill>
              <a:srgbClr val="3B4256"/>
            </a:solidFill>
            <a:prstDash val="solid"/>
          </a:ln>
        </p:spPr>
      </p:sp>
      <p:sp>
        <p:nvSpPr>
          <p:cNvPr id="11" name="Text 9">
            <a:hlinkClick r:id="rId3" tooltip="Full written case study"/>
          </p:cNvPr>
          <p:cNvSpPr/>
          <p:nvPr/>
        </p:nvSpPr>
        <p:spPr>
          <a:xfrm>
            <a:off x="5943600" y="52578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Full written case stud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Full written case study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6172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Ayush Bisht  ·  Product Manager Fellowship  ·  Graduation Project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barrier sits below the waterline, where features rarely look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344168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806440" y="1344168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65506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user has bought the same two categories for six months.”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478024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587752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06440" y="2587752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Anticipate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289864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38/40 arrive knowing what they want. 20/40 crossed a category in 3 months — and their barriers did not soften.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721608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831336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06440" y="3831336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" y="414223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unfamiliar category is shown the same information as a familiar one: a price, with no reference point.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4965192"/>
            <a:ext cx="6949440" cy="1115568"/>
          </a:xfrm>
          <a:prstGeom prst="roundRect">
            <a:avLst>
              <a:gd name="adj" fmla="val 6557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50749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MENTAL MODEL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06440" y="5074920"/>
            <a:ext cx="1508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538581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User: “quick commerce is a fetch tool, not a browse tool.” Company: “more recommendations produce more discovery.”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726680" y="1234440"/>
            <a:ext cx="397764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0" y="137160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solutions usually intervene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01000" y="1737360"/>
            <a:ext cx="3520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banner or an “explore” tab acts on EVENTS.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campaign acts on PATTERNS.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push on variables already non-zero — 39/40 already want to explore.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act on STRUCTURE: supply the missing reference point.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26680" y="3730752"/>
            <a:ext cx="3977640" cy="2194560"/>
          </a:xfrm>
          <a:prstGeom prst="roundRect">
            <a:avLst>
              <a:gd name="adj" fmla="val 3333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955280" y="38404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 we are breaking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955280" y="4206240"/>
            <a:ext cx="3566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basket  →  faster session  →  “the app is a fetch tool”  →  shorter time budget  →  no reference point for an unfamiliar price  →  less exploration  →  narrower basket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955280" y="5394960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Vicious: each efficient session makes the next exploration less likely.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Fogg: B = Motivation × Ability × Prompt.  Motivation 39/40 present · Prompt present · Ability is the binding constraint.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3,372 documents became 25 themes — every number computed, not generated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2121408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39896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739896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Relevance gate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358384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58384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976872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976872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595360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0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Synthesize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0213848" y="1188720"/>
            <a:ext cx="1490472" cy="566928"/>
          </a:xfrm>
          <a:prstGeom prst="roundRect">
            <a:avLst>
              <a:gd name="adj" fmla="val 12903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213848" y="1188720"/>
            <a:ext cx="1490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02920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7512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3,372</a:t>
            </a:r>
            <a:endParaRPr lang="en-US" sz="3400" dirty="0"/>
          </a:p>
        </p:txBody>
      </p:sp>
      <p:sp>
        <p:nvSpPr>
          <p:cNvPr id="21" name="Text 19"/>
          <p:cNvSpPr/>
          <p:nvPr/>
        </p:nvSpPr>
        <p:spPr>
          <a:xfrm>
            <a:off x="667512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documents collected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" y="307238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Store 3,033 · App Store 339, across 5 quick-commerce apps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3355848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520440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971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3520440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judged relevant (28.8%)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520440" y="307238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removing 71% is the design: most reviews discuss delivery, not choice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6208776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73368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3400" dirty="0"/>
          </a:p>
        </p:txBody>
      </p:sp>
      <p:sp>
        <p:nvSpPr>
          <p:cNvPr id="29" name="Text 27"/>
          <p:cNvSpPr/>
          <p:nvPr/>
        </p:nvSpPr>
        <p:spPr>
          <a:xfrm>
            <a:off x="6373368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themes, none degenerate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373368" y="307238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TF-IDF → LSA → agglomerative, merge threshold calibrated on homogeneity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9061704" y="2011680"/>
            <a:ext cx="2697480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226296" y="2121408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D6F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9226296" y="27432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fabrication rate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226296" y="3072384"/>
            <a:ext cx="2377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in 924. Every quote must be a verbatim substring, asserted character-for-character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502920" y="4187952"/>
            <a:ext cx="5532120" cy="1783080"/>
          </a:xfrm>
          <a:prstGeom prst="roundRect">
            <a:avLst>
              <a:gd name="adj" fmla="val 4103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13232" y="431596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rules that make the output checkable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58952" y="4645152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the source of truth — every enum traces to one of the brief’s 8 questions.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never come from the model. It sees labels and quotes only.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Contradicting evidence is computed, never requested.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63640" y="4187952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73952" y="43159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filter’s error, found by interview and then measured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6473952" y="4645152"/>
            <a:ext cx="5029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interviewee described building their basket around a free-delivery threshold — a real constraint on what gets bought, expressed as a fee complaint. Re-checking the corpus: 133 documents use that language, and the gate discarded 64 as noise. Documented rather than quietly retuned.</a:t>
            </a:r>
            <a:endParaRPr lang="en-US" sz="1400" dirty="0"/>
          </a:p>
        </p:txBody>
      </p:sp>
      <p:sp>
        <p:nvSpPr>
          <p:cNvPr id="41" name="Text 39">
            <a:hlinkClick r:id="rId1" tooltip="Repository"/>
          </p:cNvPr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Corpus is app-store review text only — Play Store 3,033 · App Store 339. A Reddit collector is built but returned no documents.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Trying to break our own insights: 3 checks pass, 2 report NOT RUN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7360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grounding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154680" y="1289304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8" name="Text 6"/>
          <p:cNvSpPr/>
          <p:nvPr/>
        </p:nvSpPr>
        <p:spPr>
          <a:xfrm>
            <a:off x="3154680" y="1289304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434840" y="1261872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quotes checked against source text. 4 fabrications in 924 extractions; the rest are filtered before display.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02920" y="2176272"/>
            <a:ext cx="7360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26771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Hold-out generalisation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154680" y="2276856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13" name="Text 11"/>
          <p:cNvSpPr/>
          <p:nvPr/>
        </p:nvSpPr>
        <p:spPr>
          <a:xfrm>
            <a:off x="3154680" y="2276856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34840" y="22494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Out-of-sample, against a size-matched permutation null. Real themes z = +17.4; word salad z = −2.6.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63824"/>
            <a:ext cx="7360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3255264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 non-degeneracy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154680" y="3264408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1D6FB8"/>
          </a:solidFill>
          <a:ln/>
        </p:spPr>
      </p:sp>
      <p:sp>
        <p:nvSpPr>
          <p:cNvPr id="18" name="Text 16"/>
          <p:cNvSpPr/>
          <p:nvPr/>
        </p:nvSpPr>
        <p:spPr>
          <a:xfrm>
            <a:off x="3154680" y="3264408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34840" y="32369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earlier run collapsed to one theme at 100% prevalence and reported success. Now asserted in code.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2920" y="4151376"/>
            <a:ext cx="7360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242816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spread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154680" y="4251960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C4552B"/>
          </a:solidFill>
          <a:ln/>
        </p:spPr>
      </p:sp>
      <p:sp>
        <p:nvSpPr>
          <p:cNvPr id="23" name="Text 21"/>
          <p:cNvSpPr/>
          <p:nvPr/>
        </p:nvSpPr>
        <p:spPr>
          <a:xfrm>
            <a:off x="3154680" y="425196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434840" y="42245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of the corpus is one source, so the check cannot discriminate. Reports the chance figure instead.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02920" y="5138928"/>
            <a:ext cx="7360920" cy="896112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85800" y="5230368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Inter-rater agreement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154680" y="5239512"/>
            <a:ext cx="1143000" cy="274320"/>
          </a:xfrm>
          <a:prstGeom prst="roundRect">
            <a:avLst>
              <a:gd name="adj" fmla="val 20000"/>
            </a:avLst>
          </a:prstGeom>
          <a:solidFill>
            <a:srgbClr val="C4552B"/>
          </a:solidFill>
          <a:ln/>
        </p:spPr>
      </p:sp>
      <p:sp>
        <p:nvSpPr>
          <p:cNvPr id="28" name="Text 26"/>
          <p:cNvSpPr/>
          <p:nvPr/>
        </p:nvSpPr>
        <p:spPr>
          <a:xfrm>
            <a:off x="3154680" y="52395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4434840" y="52120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 hand-labelled gold set that does not exist. Reported absent, not approximated.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8092440" y="1188720"/>
            <a:ext cx="3611880" cy="2331720"/>
          </a:xfrm>
          <a:prstGeom prst="roundRect">
            <a:avLst>
              <a:gd name="adj" fmla="val 313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02752" y="1316736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Cross-checked against a second model family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8302752" y="1847088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 on Llama 3.3 70B and compared with Gemini across 25 themes: 0.66 Jaccard, no theme at zero overlap, mechanism text matching 12/25 vs a 4% baseline.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02752" y="30175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Agreement is not correctness — it bounds vendor dependence, nothing more.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8092440" y="3675888"/>
            <a:ext cx="3611880" cy="2286000"/>
          </a:xfrm>
          <a:prstGeom prst="roundRect">
            <a:avLst>
              <a:gd name="adj" fmla="val 3200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02752" y="380390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report NOT RUN at all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8302752" y="4151376"/>
            <a:ext cx="3200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these checks used to print PASS over zero observations. A green line standing for no evidence is worse than an honest gap — it is the one failure mode that survives review. Three checks pass, two abstain, and the deck says which.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interviews found three barriers 3,372 documents cannot contain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11201400" cy="384048"/>
          </a:xfrm>
          <a:prstGeom prst="roundRect">
            <a:avLst>
              <a:gd name="adj" fmla="val 19048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corpus missed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26280" y="1170432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29400" y="1170432"/>
            <a:ext cx="4846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corpus cannot hold it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627632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1700784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“Comparing took too long, so I bought nothing”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26280" y="1700784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Survey, 13/40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29400" y="1700784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user did not buy, so there is nothing to review. Engine sees it at 1.5% — a twentyfold gap, not sampling noise.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2505456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2578608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“This category does not apply to me”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26280" y="2578608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Interviews, 3 of 5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29400" y="2578608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need means no purchase means no review. All 8 barrier codes presume latent demand, so all three would be miscoded as blocked.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383280"/>
            <a:ext cx="1120140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3456432"/>
            <a:ext cx="36576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 build my basket around the free-delivery threshold”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3456432"/>
            <a:ext cx="19202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 + 133 corpus docs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629400" y="3456432"/>
            <a:ext cx="48463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in the text at scale — but the gate read it as a delivery complaint and the schema has nowhere to store it.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4315968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corpus of reviews contains only people who completed a transaction. Every barrier that stops someone before they buy is invisible to it — not because the sample was small, but because the behaviour generates no text.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02920" y="4846320"/>
            <a:ext cx="553212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13232" y="495604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research CONFIRMED the engine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13232" y="5248656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Barrier ranking matches across two independent datasets. Engine: trust/quality 45.3%, price risk 22.7%, awareness 4.8%. Survey puts the same three in the same order.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263640" y="4846320"/>
            <a:ext cx="5440680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73952" y="49560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engine outran both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73952" y="524865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third-largest barrier is return anxiety at 18.4% — barely probed by the survey, raised by no interview. The correction runs both ways.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individual skip is rational; the aggregate is a two-year rut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356616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8016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segment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58952" y="1627632"/>
            <a:ext cx="31089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≥3 orders / month  —  27 of 40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 months tenure  —  majority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≤2 categories carry most spend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acquired, already trusting, already transacting — so the blocker is behavioural, the only kind a feature can move.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170432"/>
            <a:ext cx="7424928" cy="2148840"/>
          </a:xfrm>
          <a:prstGeom prst="roundRect">
            <a:avLst>
              <a:gd name="adj" fmla="val 3404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1280160"/>
            <a:ext cx="6949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1609344"/>
            <a:ext cx="6949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 presents unfamiliar categories with the same information as familiar ones. For a familiar category that is enough, because the user supplies the missing context from memory. For an unfamiliar one it is not — so evaluating it costs time the user has not budgeted, and the rational move inside a two-minute fetch session is to skip it.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2852928"/>
            <a:ext cx="6949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skip is individually correct. The aggregate outcome is a user who has bought the same things for two years.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02920" y="3493008"/>
            <a:ext cx="11201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workarounds — people only build these for problems they actually have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877056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7512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it somewhere else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67512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D-Mart 8 · Kirana 6 · Amazon 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" y="47183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is not missing — it is leaking. Displaced revenue, not absent appetite.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355848" y="3877056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520440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 for a price signal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520440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“cheaper elsewhere” 12 · “too expensive” 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20440" y="47183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is being used as a proxy for risk. Cheap enough means safe enough to test.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08776" y="3877056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73368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outside the app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73368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want reviews first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373368" y="47183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happens — on Instagram or in a shop. And so does the purchase.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061704" y="3877056"/>
            <a:ext cx="26974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226296" y="3986784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indefinitely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226296" y="427939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“forgot once cart-filling” 3 · distracted 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9226296" y="4718304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exists but evaporates on contact with the reorder flow.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502920" y="5650992"/>
            <a:ext cx="11201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model stops: 2 of 5 interviewees have barriers no information closes — an incumbent kirana, and a belief settled by one bad delivery. The MVP shows them nothing, which is the correct behaviour.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lever: cut evaluation cost at cart review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OUTCOME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8580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Retention &amp; LTV — category breadth is the moat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977640" y="1188720"/>
            <a:ext cx="3200400" cy="914400"/>
          </a:xfrm>
          <a:prstGeom prst="roundRect">
            <a:avLst>
              <a:gd name="adj" fmla="val 8000"/>
            </a:avLst>
          </a:prstGeom>
          <a:solidFill>
            <a:srgbClr val="1D6FB8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160520" y="128016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  ·  NORTH STAR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160520" y="1536192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— % of MAC buying from ≥1 new category this month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52360" y="1188720"/>
            <a:ext cx="4270248" cy="914400"/>
          </a:xfrm>
          <a:prstGeom prst="roundRect">
            <a:avLst>
              <a:gd name="adj" fmla="val 8000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62672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DEFINITION THAT DECIDES EVERYTHING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662672" y="1536192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purchase in month M from a category bought in none of M-1 … M-6.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2267712"/>
            <a:ext cx="11201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  =  eligible sessions  ×  surfaced  ×  considered  ×  converted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Eligible sessions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reaches cart review with ≥2 orders of history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Instrumented, not modelled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355848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520440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Surfaced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520440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of those sessions where a substantiated new category exists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520440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of 36 row entries would register in CER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08776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73368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Considered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73368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1 − dismissal rate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373368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Pre-registered guardrail: kill above 60%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9061704" y="2706624"/>
            <a:ext cx="2697480" cy="1517904"/>
          </a:xfrm>
          <a:prstGeom prst="roundRect">
            <a:avLst>
              <a:gd name="adj" fmla="val 4819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226296" y="281635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Converted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226296" y="3108960"/>
            <a:ext cx="23774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Add-to-cart on a suggested new category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9226296" y="37490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 the experiment moves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502920" y="4352544"/>
            <a:ext cx="5532120" cy="1572768"/>
          </a:xfrm>
          <a:prstGeom prst="roundRect">
            <a:avLst>
              <a:gd name="adj" fmla="val 4651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13232" y="44622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Opportunity → the one thing we build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13232" y="475488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four drivers, three are already healthy: intent arrives in-app (Blinkit 16 vs Amazon 3), sessions are frequent, and the catalogue is there. The one that is not is CONSIDERED — the shopper cannot evaluate fast enough. So the intervention targets evaluation cost, and nothing else.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263640" y="4352544"/>
            <a:ext cx="5440680" cy="1572768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C4552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3952" y="446227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correction that changed the build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473952" y="4754880"/>
            <a:ext cx="5029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spec first ranked the repeat prompt above first trial, reasoning that a monthly metric rewards repeats. It does not — that repeat sits inside the lookback and scores zero. First crossovers now lead; the repeat prompt serves the secondary metric.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MVP pre-computes the comparison a two-minute session cannot afford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502920" y="1152144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flow — no new screen, no new journey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30352" y="1536192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7" name="Text 5"/>
          <p:cNvSpPr/>
          <p:nvPr/>
        </p:nvSpPr>
        <p:spPr>
          <a:xfrm>
            <a:off x="530352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51560" y="14813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Fetch-mode session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73736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Shopper opens the app knowing what they want — 38/40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30352" y="2139696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1" name="Text 9"/>
          <p:cNvSpPr/>
          <p:nvPr/>
        </p:nvSpPr>
        <p:spPr>
          <a:xfrm>
            <a:off x="530352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51560" y="208483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fills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2340864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usual list. The agent does not interrupt the task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30352" y="2743200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2743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51560" y="268833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Cart review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944368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natural pause: task done, payment not started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30352" y="3346704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33467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051560" y="32918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appears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54787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5, each opening a different never-bought category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30352" y="3950208"/>
            <a:ext cx="384048" cy="384048"/>
          </a:xfrm>
          <a:prstGeom prst="ellipse">
            <a:avLst/>
          </a:prstGeom>
          <a:solidFill>
            <a:srgbClr val="1D6FB8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51560" y="38953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or dismiss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15137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Dismissal is logged as a guardrail, not hidden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02920" y="4617720"/>
            <a:ext cx="6766560" cy="1325880"/>
          </a:xfrm>
          <a:prstGeom prst="roundRect">
            <a:avLst>
              <a:gd name="adj" fmla="val 5517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" y="47183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line on the card closes a blocker the survey named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713232" y="5029200"/>
            <a:ext cx="6309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 from own history → “not sure it’ll suit my need” 14/40  ·  Price anchor → “priced higher than usual” 15/40  ·  Trust signal → “don’t trust the brand / want reviews” 26/40  ·  Smallest pack → “too expensive” 20/40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7543800" y="1152144"/>
            <a:ext cx="4160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Wireframe — the card, at cart review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7543800" y="1481328"/>
            <a:ext cx="4178808" cy="4462272"/>
          </a:xfrm>
          <a:prstGeom prst="roundRect">
            <a:avLst>
              <a:gd name="adj" fmla="val 1751"/>
            </a:avLst>
          </a:prstGeom>
          <a:solidFill>
            <a:srgbClr val="FFFFFF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772400" y="1691640"/>
            <a:ext cx="2011680" cy="310896"/>
          </a:xfrm>
          <a:prstGeom prst="roundRect">
            <a:avLst>
              <a:gd name="adj" fmla="val 14706"/>
            </a:avLst>
          </a:prstGeom>
          <a:solidFill>
            <a:srgbClr val="C4552B"/>
          </a:solidFill>
          <a:ln/>
        </p:spPr>
      </p:sp>
      <p:sp>
        <p:nvSpPr>
          <p:cNvPr id="32" name="Text 30"/>
          <p:cNvSpPr/>
          <p:nvPr/>
        </p:nvSpPr>
        <p:spPr>
          <a:xfrm>
            <a:off x="7772400" y="169164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SPARK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893808" y="1691640"/>
            <a:ext cx="1600200" cy="310896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893808" y="1691640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NEW CATEGORIES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7772400" y="2121408"/>
            <a:ext cx="3721608" cy="1700784"/>
          </a:xfrm>
          <a:prstGeom prst="roundRect">
            <a:avLst>
              <a:gd name="adj" fmla="val 4301"/>
            </a:avLst>
          </a:prstGeom>
          <a:solidFill>
            <a:srgbClr val="F1F4F8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936992" y="2267712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13648" y="226771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Drools Puppy Treats · 150g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13648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₹65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7936992" y="2889504"/>
            <a:ext cx="340156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have a pet — pet supplies is the usual next thing people add”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936992" y="3401568"/>
            <a:ext cx="3401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~₹65/week  ·  your usual runs ~₹68/week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772400" y="393192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9006840" y="3931920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history, never “customers like you”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7772400" y="446227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anchor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9006840" y="4462272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₹/week vs their own comparable spend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772400" y="4992624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signal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9006840" y="4992624"/>
            <a:ext cx="24871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most-reordered pick in that category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7772400" y="5413248"/>
            <a:ext cx="3721608" cy="384048"/>
          </a:xfrm>
          <a:prstGeom prst="roundRect">
            <a:avLst>
              <a:gd name="adj" fmla="val 14286"/>
            </a:avLst>
          </a:prstGeom>
          <a:solidFill>
            <a:srgbClr val="1D6FB8"/>
          </a:solidFill>
          <a:ln/>
        </p:spPr>
      </p:sp>
      <p:sp>
        <p:nvSpPr>
          <p:cNvPr id="48" name="Text 46"/>
          <p:cNvSpPr/>
          <p:nvPr/>
        </p:nvSpPr>
        <p:spPr>
          <a:xfrm>
            <a:off x="7772400" y="5413248"/>
            <a:ext cx="3721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to Cart</a:t>
            </a:r>
            <a:endParaRPr lang="en-US" sz="1400" dirty="0"/>
          </a:p>
        </p:txBody>
      </p:sp>
      <p:sp>
        <p:nvSpPr>
          <p:cNvPr id="49" name="Text 47">
            <a:hlinkClick r:id="rId1" tooltip="Live MVP"/>
          </p:cNvPr>
          <p:cNvSpPr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Try the live MVP — 10 shopper profiles, two of which correctly receive no suggestion at all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D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Decisions are deterministic — the LLM only writes the sentence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1887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2801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Eligibility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23160" y="12801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A first crossover · Mode B lapsed repeat · or neither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394960" y="12801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Rules, no model call. Fails closed to no card.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21031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1945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Profile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423160" y="21945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history → owned categories, cadence, declared signals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394960" y="21945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from the shopper’s own data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0175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1089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 Candidates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423160" y="31089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Never-bought categories, minus any the shopper has closed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394960" y="31089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the only list the LLM may choose from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39319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D8DE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5800" y="40233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 Price anchor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40233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₹/week for the candidate vs their own comparable spend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394960" y="40233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Division. Never routed through a model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02920" y="4846320"/>
            <a:ext cx="6903720" cy="841248"/>
          </a:xfrm>
          <a:prstGeom prst="roundRect">
            <a:avLst>
              <a:gd name="adj" fmla="val 8696"/>
            </a:avLst>
          </a:prstGeom>
          <a:solidFill>
            <a:srgbClr val="FEF6E0"/>
          </a:solidFill>
          <a:ln w="12700">
            <a:solidFill>
              <a:srgbClr val="F8CB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5800" y="4937760"/>
            <a:ext cx="1691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 Compose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2423160" y="4937760"/>
            <a:ext cx="2880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reason line + one trust line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394960" y="4937760"/>
            <a:ext cx="1874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400" i="1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step an LLM touches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7635240" y="1188720"/>
            <a:ext cx="4087368" cy="2212848"/>
          </a:xfrm>
          <a:prstGeom prst="roundRect">
            <a:avLst>
              <a:gd name="adj" fmla="val 3306"/>
            </a:avLst>
          </a:prstGeom>
          <a:solidFill>
            <a:srgbClr val="1A1D29"/>
          </a:solidFill>
          <a:ln w="12700">
            <a:solidFill>
              <a:srgbClr val="1A1D2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45552" y="129844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API key required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845552" y="1627632"/>
            <a:ext cx="3657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Mode, category, product and the anchor are identical with or without an LLM — only the wording differs. Copy is pre-generated in CI where the key lives, and discarded at render if the agent picked differently than it did at build time. A demo that a quota reset can break is not a demo.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635240" y="3566160"/>
            <a:ext cx="4087368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1D6F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845552" y="367588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evals — 11 pass, 1 reports NOT RUN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891272" y="4005072"/>
            <a:ext cx="3611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an owned or closed category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SKU exists and is in stock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reason traceable to history or a declared signal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rendered ₹/week recomputes exactly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check mutation-tested — a check that cannot fail is not evidence</a:t>
            </a:r>
            <a:endParaRPr lang="en-US" sz="1400" dirty="0"/>
          </a:p>
        </p:txBody>
      </p:sp>
      <p:sp>
        <p:nvSpPr>
          <p:cNvPr id="31" name="Text 29">
            <a:hlinkClick r:id="rId1" tooltip="Repository"/>
          </p:cNvPr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u="sng" dirty="0">
                <a:solidFill>
                  <a:srgbClr val="5A627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Repository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Deployed via GitHub Actions to GitHub Pages. The deploy job runs the eval suite first and refuses to publish if any check fails.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D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75488" cy="475488"/>
          </a:xfrm>
          <a:prstGeom prst="ellipse">
            <a:avLst/>
          </a:prstGeom>
          <a:solidFill>
            <a:srgbClr val="F8CB4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8404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D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143000" y="256032"/>
            <a:ext cx="105156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Pre-registered guardrails, and what would kill this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0292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408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5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— committed in advance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4980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AOV degradation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drop in core-category order frequency — &gt;3% is a kill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rise in refund / return rate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dismissal rate below 60%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before the result, so it cannot be relitigated after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9768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49884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6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falsify the hypothesis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4456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Cards are added but the category never repeats — trial without repeat is a discount, not exploration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Dismissal climbs with exposure — the card is noise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 rises while core frequency falls — we moved attention, not behaviour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092440" y="1234440"/>
            <a:ext cx="3566160" cy="3977640"/>
          </a:xfrm>
          <a:prstGeom prst="roundRect">
            <a:avLst>
              <a:gd name="adj" fmla="val 2051"/>
            </a:avLst>
          </a:prstGeom>
          <a:solidFill>
            <a:srgbClr val="242938"/>
          </a:solidFill>
          <a:ln w="12700">
            <a:solidFill>
              <a:srgbClr val="3940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93608" y="1371600"/>
            <a:ext cx="3154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we state rather than bury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39328" y="1938528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n=40 convenience sample, skewed young and metro. Baby (3) and pet (2) owners too thin for segment claims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n=5 interviews: enough to challenge the vocabulary, never enough for an “X% of users” claim — and none is made</a:t>
            </a:r>
            <a:endParaRPr lang="en-US" sz="1400" dirty="0"/>
          </a:p>
          <a:p>
            <a:pPr marL="342900" indent="-3429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C9CF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MVP runs on synthetic order histories. It demonstrates the mechanism, not real-world lift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" y="5349240"/>
            <a:ext cx="11201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interview was fabricated, and no synthetic persona is counted toward the total. Of five hypotheses the AI personas produced, one was testable — and it was wrong.</a:t>
            </a:r>
            <a:endParaRPr lang="en-US" sz="1500" dirty="0"/>
          </a:p>
        </p:txBody>
      </p:sp>
      <p:sp>
        <p:nvSpPr>
          <p:cNvPr id="15" name="Text 13">
            <a:hlinkClick r:id="rId1" tooltip="Live MVP"/>
          </p:cNvPr>
          <p:cNvSpPr/>
          <p:nvPr/>
        </p:nvSpPr>
        <p:spPr>
          <a:xfrm>
            <a:off x="502920" y="594360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u="sng" dirty="0">
                <a:solidFill>
                  <a:srgbClr val="F8CB46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Live MVP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MVP  ·  Repository, corpus and evals  ·  Full written case 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Blinkit — Category Exploration &amp; Discovery</dc:title>
  <dc:subject>PptxGenJS Presentation</dc:subject>
  <dc:creator>Ayush Bisht</dc:creator>
  <cp:lastModifiedBy>Ayush Bisht</cp:lastModifiedBy>
  <cp:revision>1</cp:revision>
  <dcterms:created xsi:type="dcterms:W3CDTF">2026-08-04T06:07:49Z</dcterms:created>
  <dcterms:modified xsi:type="dcterms:W3CDTF">2026-08-04T06:07:49Z</dcterms:modified>
</cp:coreProperties>
</file>